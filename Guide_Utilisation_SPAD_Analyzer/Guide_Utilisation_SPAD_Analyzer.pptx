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9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159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4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32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6FA83C">
              <a:alpha val="12000"/>
            </a:srgbClr>
          </a:solidFill>
          <a:ln/>
        </p:spPr>
      </p:sp>
      <p:pic>
        <p:nvPicPr>
          <p:cNvPr id="4" name="Image 0" descr="logo_sp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8" y="50292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6060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3310128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8FB6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Système de Production et d'Analyse de Données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389120" y="3977640"/>
            <a:ext cx="3410712" cy="0"/>
          </a:xfrm>
          <a:prstGeom prst="line">
            <a:avLst/>
          </a:prstGeom>
          <a:noFill/>
          <a:ln w="25400">
            <a:solidFill>
              <a:srgbClr val="6FA8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1605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Guide d'utilisation générale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0" y="476053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9D9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Suivi de collecte KoboToolbox · Complétude nationale · Analyse statistique des données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0" y="585575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Formation des administrateurs, comptes Data et invités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solidFill>
                  <a:srgbClr val="9FB6D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Organisation</a:t>
            </a:r>
            <a:r>
              <a:rPr lang="en-US" sz="1400" dirty="0">
                <a:solidFill>
                  <a:srgbClr val="9FB6D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Mondiale de la Santé (OMS) — Côte d'Ivoire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7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en un coup d'œil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Une plateforme unique pour piloter toute la chaîne de collecte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9720" y="205740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6" name="Image 0" descr="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122" y="2210484"/>
            <a:ext cx="662082" cy="6675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5752" y="292608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Suivi de collecte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55752" y="3355848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Plateforme web de suivi de collecte KoboToolbox, en temps réel.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61792" y="205740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EEF6E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0" name="Image 1" descr="icons/chartbar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194" y="2210484"/>
            <a:ext cx="662082" cy="6675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7824" y="292608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Complétude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617824" y="3355848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Calcul de la complétude par rapport au référentiel géographique.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23864" y="205740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4" name="Image 2" descr="icons/chartlin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266" y="2210484"/>
            <a:ext cx="662082" cy="6675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75234" y="2926080"/>
            <a:ext cx="2498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Analyse statistique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479896" y="3355848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Analyse statistique complète des données collectées.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085936" y="205740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EEF6E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8" name="Image 3" descr="icons/cogs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0338" y="2210484"/>
            <a:ext cx="662082" cy="6675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98132" y="292608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Système adaptatif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9341968" y="3355848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S'adapte à tout formulaire, sans aucune modification du code.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Trois niveaux d'accès distincts : Administrateur · Data · Invité — chacun avec des droits adaptés à son rôle.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Trois niveaux d'accès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448" y="173736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EEF2F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98168" y="205740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1D50"/>
            </a:solidFill>
            <a:prstDash val="solid"/>
          </a:ln>
        </p:spPr>
      </p:sp>
      <p:pic>
        <p:nvPicPr>
          <p:cNvPr id="7" name="Image 0" descr="icons/usershiel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480" y="2267712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2328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Administrateur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92328" y="3835856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Accès complet : gestion des comptes, registre de formulaires, consultation du journal d'activité.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04208" y="173736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E7EEF9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DB4"/>
            </a:solidFill>
            <a:prstDash val="solid"/>
          </a:ln>
        </p:spPr>
      </p:sp>
      <p:pic>
        <p:nvPicPr>
          <p:cNvPr id="12" name="Image 1" descr="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240" y="2267712"/>
            <a:ext cx="585216" cy="585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7088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6DB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587088" y="3835856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Compte individuel nominatif, accès complet aux fonctionnalités de suivi et d'analyse.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8198968" y="173736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EEF6E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87688" y="205740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7C2F"/>
            </a:solidFill>
            <a:prstDash val="solid"/>
          </a:ln>
        </p:spPr>
      </p:sp>
      <p:pic>
        <p:nvPicPr>
          <p:cNvPr id="17" name="Image 2" descr="icons/eye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8000" y="2267712"/>
            <a:ext cx="585216" cy="5852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1848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7C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Invité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381848" y="3835856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Consultation en lecture seule des tableaux de complétude, sans possibilité de modification.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 connecter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448" y="1965960"/>
            <a:ext cx="3383280" cy="3749040"/>
          </a:xfrm>
          <a:prstGeom prst="roundRect">
            <a:avLst>
              <a:gd name="adj" fmla="val 3784"/>
            </a:avLst>
          </a:prstGeom>
          <a:solidFill>
            <a:srgbClr val="16326E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8047" y="2194560"/>
            <a:ext cx="812495" cy="7315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7" name="Image 0" descr="icons/user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03" y="2331719"/>
            <a:ext cx="464283" cy="4642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9836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83768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Administrateur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95047" y="3474720"/>
            <a:ext cx="316052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E7EE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Mot de passe fourni par l'organisation, saisi dans l'onglet « Administrateur ».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404208" y="1965960"/>
            <a:ext cx="3383280" cy="3749040"/>
          </a:xfrm>
          <a:prstGeom prst="roundRect">
            <a:avLst>
              <a:gd name="adj" fmla="val 3784"/>
            </a:avLst>
          </a:prstGeom>
          <a:solidFill>
            <a:srgbClr val="4A7C2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2807" y="2194560"/>
            <a:ext cx="812495" cy="7315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3" name="Image 1" descr="icons/userplu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063" y="2331719"/>
            <a:ext cx="464283" cy="4642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312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78528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Compte Data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489807" y="3474720"/>
            <a:ext cx="316052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E7EE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Créer un compte (identifiant + mot de passe) → attente de validation par un administrateur → connexion depuis l'onglet « Data ».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8198968" y="1965960"/>
            <a:ext cx="3383280" cy="3749040"/>
          </a:xfrm>
          <a:prstGeom prst="roundRect">
            <a:avLst>
              <a:gd name="adj" fmla="val 3784"/>
            </a:avLst>
          </a:prstGeom>
          <a:solidFill>
            <a:srgbClr val="16326E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27567" y="2194560"/>
            <a:ext cx="812495" cy="7315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9" name="Image 2" descr="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823" y="2331719"/>
            <a:ext cx="464283" cy="46428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8788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473288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Invité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284567" y="3474720"/>
            <a:ext cx="316052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E7EE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Mot de passe partagé, communiqué par l'administrateur. Accès en lecture seule.</a:t>
            </a: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Suivi multi-formulaires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Cette page centralise le suivi de tous les formulaires KoboToolbox de la collecte, quels qu'ils soient.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7676" y="2148840"/>
            <a:ext cx="11538259" cy="1234440"/>
          </a:xfrm>
          <a:prstGeom prst="roundRect">
            <a:avLst>
              <a:gd name="adj" fmla="val 7407"/>
            </a:avLst>
          </a:prstGeom>
          <a:solidFill>
            <a:srgbClr val="EEF2F8"/>
          </a:solidFill>
          <a:ln w="9525">
            <a:solidFill>
              <a:srgbClr val="DCE3EE"/>
            </a:solidFill>
            <a:prstDash val="solid"/>
          </a:ln>
          <a:effectLst>
            <a:outerShdw blurRad="63500" dist="381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041" y="2446020"/>
            <a:ext cx="676844" cy="640080"/>
          </a:xfrm>
          <a:prstGeom prst="ellipse">
            <a:avLst/>
          </a:prstGeom>
          <a:solidFill>
            <a:srgbClr val="081D50"/>
          </a:solidFill>
          <a:ln/>
        </p:spPr>
      </p:sp>
      <p:pic>
        <p:nvPicPr>
          <p:cNvPr id="8" name="Image 0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0" y="2583180"/>
            <a:ext cx="386768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276856"/>
            <a:ext cx="3520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Centralisation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29200" y="2276856"/>
            <a:ext cx="6669759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Tous les formulaires Kobo de la collecte, suivis au même endroit.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87676" y="3639312"/>
            <a:ext cx="11538259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041" y="3936492"/>
            <a:ext cx="676844" cy="640080"/>
          </a:xfrm>
          <a:prstGeom prst="ellipse">
            <a:avLst/>
          </a:prstGeom>
          <a:solidFill>
            <a:srgbClr val="081D50"/>
          </a:solidFill>
          <a:ln/>
        </p:spPr>
      </p:sp>
      <p:pic>
        <p:nvPicPr>
          <p:cNvPr id="13" name="Image 1" descr="icons/syn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60" y="4073652"/>
            <a:ext cx="386768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3767328"/>
            <a:ext cx="3520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Sondage automatique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029200" y="3767328"/>
            <a:ext cx="6669759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Chaque formulaire suivi est interrogé automatiquement toutes les deux minutes.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287676" y="5129784"/>
            <a:ext cx="11538259" cy="1234440"/>
          </a:xfrm>
          <a:prstGeom prst="roundRect">
            <a:avLst>
              <a:gd name="adj" fmla="val 7407"/>
            </a:avLst>
          </a:prstGeom>
          <a:solidFill>
            <a:srgbClr val="EEF2F8"/>
          </a:solidFill>
          <a:ln w="9525">
            <a:solidFill>
              <a:srgbClr val="DCE3EE"/>
            </a:solidFill>
            <a:prstDash val="solid"/>
          </a:ln>
          <a:effectLst>
            <a:outerShdw blurRad="63500" dist="381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3041" y="5426964"/>
            <a:ext cx="676844" cy="640080"/>
          </a:xfrm>
          <a:prstGeom prst="ellipse">
            <a:avLst/>
          </a:prstGeom>
          <a:solidFill>
            <a:srgbClr val="081D50"/>
          </a:solidFill>
          <a:ln/>
        </p:spPr>
      </p:sp>
      <p:pic>
        <p:nvPicPr>
          <p:cNvPr id="18" name="Image 2" descr="icons/chartb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60" y="5564124"/>
            <a:ext cx="386768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5257800"/>
            <a:ext cx="3520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Progression en temps réel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5029200" y="5257800"/>
            <a:ext cx="6669759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Soumissions reçues, cible, pourcentage d'avancement, heure de dernière synchronisation.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Ajouter un formulaire au suivi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86328" y="1499736"/>
            <a:ext cx="16332584" cy="386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Pour chaque formulaire disponible sur le compte KoboToolbox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535528" cy="3017520"/>
          </a:xfrm>
          <a:prstGeom prst="roundRect">
            <a:avLst>
              <a:gd name="adj" fmla="val 3636"/>
            </a:avLst>
          </a:prstGeom>
          <a:solidFill>
            <a:srgbClr val="EEF6E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0" descr="icons/checkcircl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167" y="2133001"/>
            <a:ext cx="740371" cy="7403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942004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Détection automatique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08917" y="3361498"/>
            <a:ext cx="316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 le nom du formulaire correspond à un type déjà connu, il est présélectionné automatiquement.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04208" y="20116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EEF2F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1" name="Image 1" descr="icons/robo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927" y="2133001"/>
            <a:ext cx="740371" cy="7403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97356" y="2983100"/>
            <a:ext cx="33901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Suggestion par IA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503677" y="3361498"/>
            <a:ext cx="316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 aucun type n'est détecté, un bouton (icône étoile) propose une suggestion à partir du nom.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198967" y="2011680"/>
            <a:ext cx="3535527" cy="3017520"/>
          </a:xfrm>
          <a:prstGeom prst="roundRect">
            <a:avLst>
              <a:gd name="adj" fmla="val 3636"/>
            </a:avLst>
          </a:prstGeom>
          <a:solidFill>
            <a:srgbClr val="E7EEF9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5" name="Image 2" descr="icons/listal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2687" y="2133001"/>
            <a:ext cx="740371" cy="7403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92114" y="2942004"/>
            <a:ext cx="35355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Type libre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318984" y="3361498"/>
            <a:ext cx="32838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Sans type particulier : uniquement une cible manuelle, en simple compteur de progression.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09448" y="525780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081D50"/>
          </a:solidFill>
          <a:ln/>
        </p:spPr>
      </p:sp>
      <p:sp>
        <p:nvSpPr>
          <p:cNvPr id="19" name="Text 14"/>
          <p:cNvSpPr/>
          <p:nvPr/>
        </p:nvSpPr>
        <p:spPr>
          <a:xfrm>
            <a:off x="883768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Cliquez sur « Suivre » pour ajouter le formulaire au tableau de bord.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Complétude nationale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5210" y="1417320"/>
            <a:ext cx="118461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Alimentée automatiquement dès qu'un formulaire suivi reçoit un type reconnu — inutile de ressaisir la correspondance.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899181"/>
            <a:ext cx="5394960" cy="52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Calculer la complétude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3466" y="2409496"/>
            <a:ext cx="5872534" cy="95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Interroge KoboToolbox et calcule les taux par rapport au référentiel géographique (établissements, districts, régions).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23466" y="3502152"/>
            <a:ext cx="146304" cy="146304"/>
          </a:xfrm>
          <a:prstGeom prst="ellipse">
            <a:avLst/>
          </a:prstGeom>
          <a:solidFill>
            <a:srgbClr val="6FA83C"/>
          </a:solidFill>
          <a:ln/>
        </p:spPr>
      </p:sp>
      <p:sp>
        <p:nvSpPr>
          <p:cNvPr id="9" name="Text 7"/>
          <p:cNvSpPr/>
          <p:nvPr/>
        </p:nvSpPr>
        <p:spPr>
          <a:xfrm>
            <a:off x="497786" y="3355848"/>
            <a:ext cx="5598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Vue par formulaire — reçu / cible, pourcentage, statut coloré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3466" y="4142024"/>
            <a:ext cx="146304" cy="146304"/>
          </a:xfrm>
          <a:prstGeom prst="ellipse">
            <a:avLst/>
          </a:prstGeom>
          <a:solidFill>
            <a:srgbClr val="6FA83C"/>
          </a:solidFill>
          <a:ln/>
        </p:spPr>
      </p:sp>
      <p:sp>
        <p:nvSpPr>
          <p:cNvPr id="11" name="Text 9"/>
          <p:cNvSpPr/>
          <p:nvPr/>
        </p:nvSpPr>
        <p:spPr>
          <a:xfrm>
            <a:off x="497786" y="3995720"/>
            <a:ext cx="5598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Vues détaillées — région, district, enquêteur, superviseur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3466" y="4822993"/>
            <a:ext cx="146304" cy="146304"/>
          </a:xfrm>
          <a:prstGeom prst="ellipse">
            <a:avLst/>
          </a:prstGeom>
          <a:solidFill>
            <a:srgbClr val="6FA83C"/>
          </a:solidFill>
          <a:ln/>
        </p:spPr>
      </p:sp>
      <p:sp>
        <p:nvSpPr>
          <p:cNvPr id="13" name="Text 11"/>
          <p:cNvSpPr/>
          <p:nvPr/>
        </p:nvSpPr>
        <p:spPr>
          <a:xfrm>
            <a:off x="497786" y="4676689"/>
            <a:ext cx="5598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Anomalies — soumissions à zéro ou excédent suspect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3466" y="5452595"/>
            <a:ext cx="146304" cy="146304"/>
          </a:xfrm>
          <a:prstGeom prst="ellipse">
            <a:avLst/>
          </a:prstGeom>
          <a:solidFill>
            <a:srgbClr val="6FA83C"/>
          </a:solidFill>
          <a:ln/>
        </p:spPr>
      </p:sp>
      <p:sp>
        <p:nvSpPr>
          <p:cNvPr id="15" name="Text 13"/>
          <p:cNvSpPr/>
          <p:nvPr/>
        </p:nvSpPr>
        <p:spPr>
          <a:xfrm>
            <a:off x="497786" y="5306291"/>
            <a:ext cx="5598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Graphiques et tendance — évolution sur les 30 derniers jours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59" y="2057399"/>
            <a:ext cx="5425135" cy="4538609"/>
          </a:xfrm>
          <a:prstGeom prst="roundRect">
            <a:avLst>
              <a:gd name="adj" fmla="val 3256"/>
            </a:avLst>
          </a:prstGeom>
          <a:solidFill>
            <a:srgbClr val="081D50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7" name="Image 0" descr="icons/filedownload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543" y="2240279"/>
            <a:ext cx="1150704" cy="101179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543800" y="24688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Télécharger le rapport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503543" y="3368381"/>
            <a:ext cx="5065158" cy="1524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D7E2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 bouton « Télécharger le rapport (Word) » génère un document complet avec graphiques et analyse commentée, pour chaque formulaire, chaque superviseur et chaque enquêteur.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 flipV="1">
            <a:off x="6675120" y="5061763"/>
            <a:ext cx="4760018" cy="10585"/>
          </a:xfrm>
          <a:prstGeom prst="line">
            <a:avLst/>
          </a:prstGeom>
          <a:noFill/>
          <a:ln w="12700">
            <a:solidFill>
              <a:srgbClr val="3E54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31623" y="5250604"/>
            <a:ext cx="5137078" cy="1259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« Cible atteinte » : moyenne nationale (peut masquer des écarts).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« Cible réelle atteinte » : proportion de districts à 100 % individuellement.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Deux indicateurs complémentaires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5581950" cy="4357270"/>
          </a:xfrm>
          <a:prstGeom prst="roundRect">
            <a:avLst>
              <a:gd name="adj" fmla="val 3855"/>
            </a:avLst>
          </a:prstGeom>
          <a:solidFill>
            <a:srgbClr val="E7EEF9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336" y="2286000"/>
            <a:ext cx="1078784" cy="981182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7" name="Image 0" descr="icon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586" y="2499701"/>
            <a:ext cx="599324" cy="5451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2286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6DB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Cible atteinte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24028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Moyenne nationale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9090" y="3383280"/>
            <a:ext cx="428615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Peut masquer des écarts importants entre districts : une moyenne haute peut cacher des zones très en retard.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217919" y="1920240"/>
            <a:ext cx="5516575" cy="4357270"/>
          </a:xfrm>
          <a:prstGeom prst="roundRect">
            <a:avLst>
              <a:gd name="adj" fmla="val 3855"/>
            </a:avLst>
          </a:prstGeom>
          <a:solidFill>
            <a:srgbClr val="EEF6E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19296" y="2286000"/>
            <a:ext cx="1078784" cy="981182"/>
          </a:xfrm>
          <a:prstGeom prst="ellipse">
            <a:avLst/>
          </a:prstGeom>
          <a:solidFill>
            <a:srgbClr val="4A7C2F"/>
          </a:solidFill>
          <a:ln/>
        </p:spPr>
      </p:sp>
      <p:pic>
        <p:nvPicPr>
          <p:cNvPr id="13" name="Image 1" descr="icon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546" y="2499701"/>
            <a:ext cx="599324" cy="5451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5240" y="2286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7C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Cible réelle atteinte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763524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Districts à 100 % individuellement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112285" y="3383280"/>
            <a:ext cx="428615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Indicateur plus exigeant : révèle les disparités locales masquées par la moyenne nationale.</a:t>
            </a:r>
            <a:endParaRPr lang="en-US" dirty="0"/>
          </a:p>
        </p:txBody>
      </p:sp>
      <p:pic>
        <p:nvPicPr>
          <p:cNvPr id="17" name="Image 2" descr="icons/sync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492" y="3583624"/>
            <a:ext cx="1527985" cy="151235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Anomalies et rapports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448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CF1E1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6" name="Image 0" descr="icons/warn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22" y="2225468"/>
            <a:ext cx="719822" cy="719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448" y="3147485"/>
            <a:ext cx="3301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7C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Détection d'anomalies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5480" y="3639312"/>
            <a:ext cx="287121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Soumissions à zéro ou excédent suspect par rapport à la cible attendue.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404208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EEF2F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0" name="Image 1" descr="icons/chartlin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282" y="2225468"/>
            <a:ext cx="719822" cy="7198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04208" y="3147485"/>
            <a:ext cx="3301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Graphiques et tendance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60240" y="3639312"/>
            <a:ext cx="287121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Évolution de la collecte sur les 30 derniers jours.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8198968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EEF6E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4" name="Image 2" descr="icons/filedownload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1042" y="2225468"/>
            <a:ext cx="719822" cy="71982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98968" y="3147485"/>
            <a:ext cx="3301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7C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Rapport Word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455000" y="3639312"/>
            <a:ext cx="287121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Téléchargeable, avec analyse commentée par formulaire, superviseur et enquêteur.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Analyse de données d'un formulaire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4112" y="1417320"/>
            <a:ext cx="119077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Indépendamment du suivi de complétude : importer un </a:t>
            </a:r>
            <a:r>
              <a:rPr lang="en-US" i="1" dirty="0" err="1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fichier</a:t>
            </a:r>
            <a:r>
              <a:rPr lang="en-US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Excel exporté depuis KoboToolbox, ou charger directement un formulaire connecté.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Modules disponibles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4561" y="2715768"/>
            <a:ext cx="142240" cy="128016"/>
          </a:xfrm>
          <a:prstGeom prst="ellipse">
            <a:avLst/>
          </a:prstGeom>
          <a:solidFill>
            <a:srgbClr val="6FA83C"/>
          </a:solidFill>
          <a:ln/>
        </p:spPr>
      </p:sp>
      <p:sp>
        <p:nvSpPr>
          <p:cNvPr id="8" name="Text 6"/>
          <p:cNvSpPr/>
          <p:nvPr/>
        </p:nvSpPr>
        <p:spPr>
          <a:xfrm>
            <a:off x="511448" y="2560320"/>
            <a:ext cx="64007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Statistiques descriptives — tris à plat, fréquences, moyennes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64561" y="3297490"/>
            <a:ext cx="142240" cy="128016"/>
          </a:xfrm>
          <a:prstGeom prst="ellipse">
            <a:avLst/>
          </a:prstGeom>
          <a:solidFill>
            <a:srgbClr val="6FA83C"/>
          </a:solidFill>
          <a:ln/>
        </p:spPr>
      </p:sp>
      <p:sp>
        <p:nvSpPr>
          <p:cNvPr id="10" name="Text 8"/>
          <p:cNvSpPr/>
          <p:nvPr/>
        </p:nvSpPr>
        <p:spPr>
          <a:xfrm>
            <a:off x="511448" y="3142042"/>
            <a:ext cx="64007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Tableaux croisés — khi-deux, V de Cramér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4561" y="3940856"/>
            <a:ext cx="142240" cy="128016"/>
          </a:xfrm>
          <a:prstGeom prst="ellipse">
            <a:avLst/>
          </a:prstGeom>
          <a:solidFill>
            <a:srgbClr val="6FA83C"/>
          </a:solidFill>
          <a:ln/>
        </p:spPr>
      </p:sp>
      <p:sp>
        <p:nvSpPr>
          <p:cNvPr id="12" name="Text 10"/>
          <p:cNvSpPr/>
          <p:nvPr/>
        </p:nvSpPr>
        <p:spPr>
          <a:xfrm>
            <a:off x="511448" y="3785408"/>
            <a:ext cx="64007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Analyses multivariées — ACP, ACM, classification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64561" y="4584223"/>
            <a:ext cx="142240" cy="128016"/>
          </a:xfrm>
          <a:prstGeom prst="ellipse">
            <a:avLst/>
          </a:prstGeom>
          <a:solidFill>
            <a:srgbClr val="6FA83C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48" y="4428775"/>
            <a:ext cx="64007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Génération automatique d'un rapport PDF</a:t>
            </a:r>
            <a:endParaRPr lang="en-US" dirty="0"/>
          </a:p>
        </p:txBody>
      </p:sp>
      <p:pic>
        <p:nvPicPr>
          <p:cNvPr id="15" name="Image 0" descr="icons/fileexcel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757" y="2884932"/>
            <a:ext cx="1289304" cy="1289304"/>
          </a:xfrm>
          <a:prstGeom prst="rect">
            <a:avLst/>
          </a:prstGeom>
        </p:spPr>
      </p:pic>
      <p:pic>
        <p:nvPicPr>
          <p:cNvPr id="16" name="Image 1" descr="icons/filepdf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483" y="2868930"/>
            <a:ext cx="1289304" cy="1289304"/>
          </a:xfrm>
          <a:prstGeom prst="rect">
            <a:avLst/>
          </a:prstGeom>
        </p:spPr>
      </p:pic>
      <p:pic>
        <p:nvPicPr>
          <p:cNvPr id="17" name="Image 2" descr="icons/chartba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6631" y="2857500"/>
            <a:ext cx="1289304" cy="128930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54111" y="5241358"/>
            <a:ext cx="11907749" cy="1051560"/>
          </a:xfrm>
          <a:prstGeom prst="roundRect">
            <a:avLst>
              <a:gd name="adj" fmla="val 8696"/>
            </a:avLst>
          </a:prstGeom>
          <a:solidFill>
            <a:srgbClr val="FCF1E1"/>
          </a:solidFill>
          <a:ln w="12700">
            <a:solidFill>
              <a:srgbClr val="C77C1E"/>
            </a:solidFill>
            <a:prstDash val="solid"/>
          </a:ln>
        </p:spPr>
      </p:sp>
      <p:pic>
        <p:nvPicPr>
          <p:cNvPr id="19" name="Image 3" descr="icons/warning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561" y="5351086"/>
            <a:ext cx="822960" cy="71508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97971" y="5241358"/>
            <a:ext cx="1086388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C77C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Important : </a:t>
            </a: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 formulaire désactivé dans le registre ne peut plus être chargé ici tant qu'il n'est pas réactivé.</a:t>
            </a: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Administration — comptes et journal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89888" y="8229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FCB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Réservé au rôle Administrateur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448" y="20116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EEF2F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0" descr="icons/userplu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22" y="2287111"/>
            <a:ext cx="730097" cy="7300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5480" y="316803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Comptes Data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6966" y="3642494"/>
            <a:ext cx="3071840" cy="1463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Autoriser ou bloquer un compte, à tout moment : en attente, autorisé, bloqué.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04208" y="20116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EEF6E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1" name="Image 1" descr="icons/history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282" y="2287111"/>
            <a:ext cx="730097" cy="7300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0240" y="316803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Journal d'activité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61726" y="3642494"/>
            <a:ext cx="3071840" cy="1463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Chaque action journalisée : date, identifiant, méthode et page concernée.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198968" y="20116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E7EEF9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5" name="Image 2" descr="icons/sync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1042" y="2287111"/>
            <a:ext cx="730097" cy="7300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5000" y="316803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Réinitialisation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352890" y="3642494"/>
            <a:ext cx="3133618" cy="1463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 bouton permet de repartir d'un journal vierge si nécessaire.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Administration — registre des formulaires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89888" y="8229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FCB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Réservé au rôle Administrateur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 système s'adapte à votre collecte, sans jamais nécessiter de modification du code.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92328" y="201168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6E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8" name="Image 0" descr="icons/toggl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940" y="2073384"/>
            <a:ext cx="807975" cy="8079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10441" y="3006072"/>
            <a:ext cx="37114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Activer / désactiver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48360" y="3310128"/>
            <a:ext cx="45171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 formulaire désactivé disparaît immédiatement de Suivi et de Complétude, et ne peut plus être analysé tant qu'il n'est pas réactivé.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370168" y="201168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2" name="Image 1" descr="icons/pluscircl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428" y="2137017"/>
            <a:ext cx="791742" cy="7917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19992" y="3006072"/>
            <a:ext cx="3770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Ajouter un formulaire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626200" y="3310128"/>
            <a:ext cx="45171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Code, libellé, niveau de rattachement (établissement / district), acteur concerné, règle de calcul de la cible.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 principe clé : un système qui s'adapte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Aucun formulaire n'est figé dans le code de l'application.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6588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081D50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78128" y="256032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8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26974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98268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9468" y="3520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Nouveau formulaire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15188" y="41605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E5EC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Apparaît sur KoboToolbox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101188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3421228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4A7C2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2768" y="256032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5" name="Image 1" descr="icons/plus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928" y="26974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32908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04108" y="3520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Ajout au suivi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649828" y="41605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E5EC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Détection auto, IA, ou saisie manuelle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935828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6255868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081D50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47408" y="256032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2" name="Image 2" descr="icons/chartb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568" y="26974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67548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438748" y="3520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Complétude</a:t>
            </a: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484468" y="41605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E5EC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Apparaît automatiquement</a:t>
            </a: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8770468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9090508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4A7C2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982048" y="256032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9" name="Image 3" descr="icons/togg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9208" y="269748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102188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273388" y="3520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Désactivation</a:t>
            </a: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9319108" y="41605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E5EC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Disparaît proprement de toutes les vues</a:t>
            </a: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1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FA8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Questions fréquentes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67128" y="1874520"/>
            <a:ext cx="566870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  <a:effectLst>
            <a:outerShdw blurRad="635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6" name="Image 0" descr="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39112"/>
            <a:ext cx="541172" cy="5411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564" y="2039112"/>
            <a:ext cx="4701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Je ne vois aucun changement après une mise à jour ?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52043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 rechargement de page suffit pour l'affichage. Une mise à jour profonde nécessite un redémarrage complet (administrateur).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55868" y="1874520"/>
            <a:ext cx="5764896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  <a:effectLst>
            <a:outerShdw blurRad="635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0" name="Image 1" descr="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56" y="2051749"/>
            <a:ext cx="572470" cy="4836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87388" y="2039112"/>
            <a:ext cx="49374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Pourquoi mon formulaire n'apparaît-il pas dans Complétude nationale ?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530188" y="2743200"/>
            <a:ext cx="53946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Vérifiez qu'il est suivi ET qu'un type lui a été attribué (pas « Libre »).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267128" y="4206240"/>
            <a:ext cx="5668700" cy="2103120"/>
          </a:xfrm>
          <a:prstGeom prst="roundRect">
            <a:avLst>
              <a:gd name="adj" fmla="val 4348"/>
            </a:avLst>
          </a:prstGeom>
          <a:solidFill>
            <a:srgbClr val="EEF6E4"/>
          </a:solidFill>
          <a:ln/>
          <a:effectLst>
            <a:outerShdw blurRad="635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4" name="Image 2" descr="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56" y="4370832"/>
            <a:ext cx="495148" cy="4951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564" y="4370832"/>
            <a:ext cx="484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Puis-je analyser un formulaire désactivé ?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57200" y="5054372"/>
            <a:ext cx="52500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Non — réactivez-le d'abord depuis le registre des formulaires (Administration).</a:t>
            </a: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6255867" y="4206240"/>
            <a:ext cx="5764895" cy="2103120"/>
          </a:xfrm>
          <a:prstGeom prst="roundRect">
            <a:avLst>
              <a:gd name="adj" fmla="val 4348"/>
            </a:avLst>
          </a:prstGeom>
          <a:solidFill>
            <a:srgbClr val="EEF6E4"/>
          </a:solidFill>
          <a:ln/>
          <a:effectLst>
            <a:outerShdw blurRad="635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8" name="Image 3" descr="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55" y="4370832"/>
            <a:ext cx="527583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87387" y="4370832"/>
            <a:ext cx="493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081D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Quel indicateur de complétude est fiable ?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6530188" y="5074920"/>
            <a:ext cx="529574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Les deux se complètent : « Cible atteinte » (moyenne) et « Cible réelle atteinte » (disparités locales).</a:t>
            </a: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 Analyzer — Guide de formation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08273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32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6FA83C">
              <a:alpha val="12000"/>
            </a:srgbClr>
          </a:solidFill>
          <a:ln/>
        </p:spPr>
      </p:sp>
      <p:pic>
        <p:nvPicPr>
          <p:cNvPr id="4" name="Image 0" descr="logo_sp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608" y="100584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Merci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4937760" y="3794760"/>
            <a:ext cx="2286000" cy="0"/>
          </a:xfrm>
          <a:prstGeom prst="line">
            <a:avLst/>
          </a:prstGeom>
          <a:noFill/>
          <a:ln w="25400">
            <a:solidFill>
              <a:srgbClr val="6FA8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7E2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Pour toute question, contactez votre administrateur SPAD Analyzer.</a:t>
            </a:r>
            <a:endParaRPr lang="en-US" sz="2400" dirty="0"/>
          </a:p>
        </p:txBody>
      </p:sp>
      <p:pic>
        <p:nvPicPr>
          <p:cNvPr id="8" name="Image 1" descr="icons/envelop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4846320"/>
            <a:ext cx="451359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FB6D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SPAD/OMS — </a:t>
            </a:r>
            <a:r>
              <a:rPr lang="en-US" sz="1200" i="1" dirty="0">
                <a:solidFill>
                  <a:srgbClr val="8FB6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Système de Production et </a:t>
            </a:r>
            <a:r>
              <a:rPr lang="en-US" sz="1200" i="1" dirty="0" err="1">
                <a:solidFill>
                  <a:srgbClr val="8FB6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d'Analyse</a:t>
            </a:r>
            <a:r>
              <a:rPr lang="en-US" sz="1200" i="1" dirty="0">
                <a:solidFill>
                  <a:srgbClr val="8FB6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de Données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1125</Words>
  <Application>Microsoft Macintosh PowerPoint</Application>
  <PresentationFormat>Grand écran</PresentationFormat>
  <Paragraphs>182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Tahoma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Jean-Marc Bertrand KORANDJI</cp:lastModifiedBy>
  <cp:revision>3</cp:revision>
  <dcterms:created xsi:type="dcterms:W3CDTF">2026-08-07T13:08:35Z</dcterms:created>
  <dcterms:modified xsi:type="dcterms:W3CDTF">2026-08-07T14:54:44Z</dcterms:modified>
</cp:coreProperties>
</file>